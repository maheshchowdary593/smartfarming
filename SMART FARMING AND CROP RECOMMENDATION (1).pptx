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f42e988f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f42e988f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f42e988f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f42e988f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f42e988f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f42e988f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f42e988f2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f42e988f2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f462f1e81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f462f1e8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f462f1e8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f462f1e8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f462f1e8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f462f1e8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f462f1e81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f462f1e81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f462f1e81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f462f1e81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f462f1e81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f462f1e81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f462f1e8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f462f1e8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9.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67275" y="851100"/>
            <a:ext cx="8651700" cy="1439100"/>
          </a:xfrm>
          <a:prstGeom prst="rect">
            <a:avLst/>
          </a:prstGeom>
          <a:noFill/>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highlight>
                  <a:srgbClr val="FFFFFF"/>
                </a:highlight>
              </a:rPr>
              <a:t>SMART FARMING SYSTEM &amp;</a:t>
            </a:r>
            <a:endParaRPr>
              <a:highlight>
                <a:srgbClr val="FFFFFF"/>
              </a:highlight>
            </a:endParaRPr>
          </a:p>
          <a:p>
            <a:pPr indent="0" lvl="0" marL="457200" rtl="0" algn="l">
              <a:spcBef>
                <a:spcPts val="0"/>
              </a:spcBef>
              <a:spcAft>
                <a:spcPts val="0"/>
              </a:spcAft>
              <a:buNone/>
            </a:pPr>
            <a:r>
              <a:rPr lang="en">
                <a:highlight>
                  <a:srgbClr val="FFFFFF"/>
                </a:highlight>
              </a:rPr>
              <a:t>CROP RECOMMEDATION</a:t>
            </a:r>
            <a:r>
              <a:rPr lang="en">
                <a:highlight>
                  <a:srgbClr val="FFFFFF"/>
                </a:highlight>
              </a:rPr>
              <a:t>    </a:t>
            </a:r>
            <a:endParaRPr>
              <a:highlight>
                <a:srgbClr val="FFFF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1152475"/>
            <a:ext cx="4257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G.Sriram       		-AP23110011663</a:t>
            </a:r>
            <a:endParaRPr/>
          </a:p>
          <a:p>
            <a:pPr indent="0" lvl="0" marL="0" rtl="0" algn="l">
              <a:spcBef>
                <a:spcPts val="1200"/>
              </a:spcBef>
              <a:spcAft>
                <a:spcPts val="0"/>
              </a:spcAft>
              <a:buNone/>
            </a:pPr>
            <a:r>
              <a:rPr lang="en"/>
              <a:t>M.Kalyan              -AP22110011633</a:t>
            </a:r>
            <a:endParaRPr/>
          </a:p>
          <a:p>
            <a:pPr indent="0" lvl="0" marL="0" rtl="0" algn="l">
              <a:spcBef>
                <a:spcPts val="1200"/>
              </a:spcBef>
              <a:spcAft>
                <a:spcPts val="0"/>
              </a:spcAft>
              <a:buNone/>
            </a:pPr>
            <a:r>
              <a:rPr lang="en"/>
              <a:t>M.Mahesh            -AP23110011665</a:t>
            </a:r>
            <a:endParaRPr/>
          </a:p>
          <a:p>
            <a:pPr indent="0" lvl="0" marL="0" rtl="0" algn="l">
              <a:spcBef>
                <a:spcPts val="1200"/>
              </a:spcBef>
              <a:spcAft>
                <a:spcPts val="1200"/>
              </a:spcAft>
              <a:buNone/>
            </a:pPr>
            <a:r>
              <a:rPr lang="en"/>
              <a:t>Y.Umesh               -AP23110011667</a:t>
            </a:r>
            <a:endParaRPr/>
          </a:p>
        </p:txBody>
      </p:sp>
      <p:sp>
        <p:nvSpPr>
          <p:cNvPr id="60" name="Google Shape;60;p14"/>
          <p:cNvSpPr txBox="1"/>
          <p:nvPr/>
        </p:nvSpPr>
        <p:spPr>
          <a:xfrm>
            <a:off x="395400" y="215125"/>
            <a:ext cx="4257300" cy="8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u="sng">
                <a:solidFill>
                  <a:schemeClr val="dk2"/>
                </a:solidFill>
              </a:rPr>
              <a:t>Team Members:</a:t>
            </a:r>
            <a:endParaRPr sz="3600" u="sng">
              <a:solidFill>
                <a:schemeClr val="dk2"/>
              </a:solidFill>
            </a:endParaRPr>
          </a:p>
        </p:txBody>
      </p:sp>
      <p:pic>
        <p:nvPicPr>
          <p:cNvPr id="61" name="Google Shape;61;p14" title="can u guve me a best tree image which is present in fields.jpg"/>
          <p:cNvPicPr preferRelativeResize="0"/>
          <p:nvPr/>
        </p:nvPicPr>
        <p:blipFill>
          <a:blip r:embed="rId3">
            <a:alphaModFix/>
          </a:blip>
          <a:stretch>
            <a:fillRect/>
          </a:stretch>
        </p:blipFill>
        <p:spPr>
          <a:xfrm>
            <a:off x="4706675" y="1298350"/>
            <a:ext cx="4082401" cy="2413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p:nvPr/>
        </p:nvSpPr>
        <p:spPr>
          <a:xfrm>
            <a:off x="364725" y="1364550"/>
            <a:ext cx="8520600" cy="34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274E13"/>
                </a:solidFill>
              </a:rPr>
              <a:t>Traditional farming methods rely heavily on manual labor and guesswork.</a:t>
            </a:r>
            <a:endParaRPr sz="1300">
              <a:solidFill>
                <a:srgbClr val="274E13"/>
              </a:solidFill>
            </a:endParaRPr>
          </a:p>
          <a:p>
            <a:pPr indent="0" lvl="0" marL="0" rtl="0" algn="l">
              <a:lnSpc>
                <a:spcPct val="115000"/>
              </a:lnSpc>
              <a:spcBef>
                <a:spcPts val="1200"/>
              </a:spcBef>
              <a:spcAft>
                <a:spcPts val="0"/>
              </a:spcAft>
              <a:buClr>
                <a:schemeClr val="dk1"/>
              </a:buClr>
              <a:buSzPts val="1100"/>
              <a:buFont typeface="Arial"/>
              <a:buNone/>
            </a:pPr>
            <a:r>
              <a:rPr lang="en" sz="1300">
                <a:solidFill>
                  <a:srgbClr val="274E13"/>
                </a:solidFill>
              </a:rPr>
              <a:t>Inconsistent weather patterns due to climate change affect crop yields.</a:t>
            </a:r>
            <a:endParaRPr sz="1300">
              <a:solidFill>
                <a:srgbClr val="274E13"/>
              </a:solidFill>
            </a:endParaRPr>
          </a:p>
          <a:p>
            <a:pPr indent="0" lvl="0" marL="0" rtl="0" algn="l">
              <a:lnSpc>
                <a:spcPct val="115000"/>
              </a:lnSpc>
              <a:spcBef>
                <a:spcPts val="1200"/>
              </a:spcBef>
              <a:spcAft>
                <a:spcPts val="0"/>
              </a:spcAft>
              <a:buClr>
                <a:schemeClr val="dk1"/>
              </a:buClr>
              <a:buSzPts val="1100"/>
              <a:buFont typeface="Arial"/>
              <a:buNone/>
            </a:pPr>
            <a:r>
              <a:rPr lang="en" sz="1300">
                <a:solidFill>
                  <a:srgbClr val="274E13"/>
                </a:solidFill>
              </a:rPr>
              <a:t>Difficulty in early detection of crop diseases and pest infestations.Farmers face challenges in predicting the best crops for specific soil and climate conditions.</a:t>
            </a:r>
            <a:endParaRPr sz="1300">
              <a:solidFill>
                <a:srgbClr val="274E13"/>
              </a:solidFill>
            </a:endParaRPr>
          </a:p>
          <a:p>
            <a:pPr indent="0" lvl="0" marL="0" rtl="0" algn="l">
              <a:lnSpc>
                <a:spcPct val="115000"/>
              </a:lnSpc>
              <a:spcBef>
                <a:spcPts val="1200"/>
              </a:spcBef>
              <a:spcAft>
                <a:spcPts val="0"/>
              </a:spcAft>
              <a:buClr>
                <a:schemeClr val="dk1"/>
              </a:buClr>
              <a:buSzPts val="1100"/>
              <a:buFont typeface="Arial"/>
              <a:buNone/>
            </a:pPr>
            <a:r>
              <a:rPr lang="en" sz="1300">
                <a:solidFill>
                  <a:srgbClr val="274E13"/>
                </a:solidFill>
              </a:rPr>
              <a:t>Difficulty in collecting, storing, and analyzing large volumes of farming data.</a:t>
            </a:r>
            <a:endParaRPr sz="1300">
              <a:solidFill>
                <a:srgbClr val="274E13"/>
              </a:solidFill>
            </a:endParaRPr>
          </a:p>
          <a:p>
            <a:pPr indent="0" lvl="0" marL="0" rtl="0" algn="l">
              <a:lnSpc>
                <a:spcPct val="115000"/>
              </a:lnSpc>
              <a:spcBef>
                <a:spcPts val="1200"/>
              </a:spcBef>
              <a:spcAft>
                <a:spcPts val="0"/>
              </a:spcAft>
              <a:buClr>
                <a:schemeClr val="dk1"/>
              </a:buClr>
              <a:buSzPts val="1100"/>
              <a:buFont typeface="Arial"/>
              <a:buNone/>
            </a:pPr>
            <a:r>
              <a:rPr lang="en" sz="1300">
                <a:solidFill>
                  <a:srgbClr val="274E13"/>
                </a:solidFill>
              </a:rPr>
              <a:t>Farmers often struggle to choose the best crop for their soil type, climate, and past crop history, leading to poor yields.</a:t>
            </a:r>
            <a:endParaRPr sz="1300">
              <a:solidFill>
                <a:srgbClr val="274E13"/>
              </a:solidFill>
            </a:endParaRPr>
          </a:p>
          <a:p>
            <a:pPr indent="0" lvl="0" marL="0" rtl="0" algn="l">
              <a:lnSpc>
                <a:spcPct val="115000"/>
              </a:lnSpc>
              <a:spcBef>
                <a:spcPts val="1200"/>
              </a:spcBef>
              <a:spcAft>
                <a:spcPts val="1200"/>
              </a:spcAft>
              <a:buClr>
                <a:schemeClr val="dk1"/>
              </a:buClr>
              <a:buSzPts val="1100"/>
              <a:buFont typeface="Arial"/>
              <a:buNone/>
            </a:pPr>
            <a:r>
              <a:rPr lang="en" sz="1300">
                <a:solidFill>
                  <a:srgbClr val="274E13"/>
                </a:solidFill>
              </a:rPr>
              <a:t>Lack of personalized recommendations based on specific farm conditions (like soil pH, moisture, previous crops) limits productivity.</a:t>
            </a:r>
            <a:endParaRPr/>
          </a:p>
        </p:txBody>
      </p:sp>
      <p:sp>
        <p:nvSpPr>
          <p:cNvPr id="67" name="Google Shape;67;p15"/>
          <p:cNvSpPr/>
          <p:nvPr/>
        </p:nvSpPr>
        <p:spPr>
          <a:xfrm>
            <a:off x="337850" y="366625"/>
            <a:ext cx="2287800" cy="60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00FFFF"/>
                </a:highlight>
              </a:rPr>
              <a:t>INTRODUCTION:</a:t>
            </a:r>
            <a:endParaRPr sz="1800">
              <a:highlight>
                <a:srgbClr val="00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228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73" name="Google Shape;73;p16"/>
          <p:cNvSpPr/>
          <p:nvPr/>
        </p:nvSpPr>
        <p:spPr>
          <a:xfrm>
            <a:off x="1312000" y="1245350"/>
            <a:ext cx="5537400" cy="377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300"/>
              <a:t>To monitor real-time soil, weather, and crop health data using IoT sensors.</a:t>
            </a:r>
            <a:endParaRPr sz="1300"/>
          </a:p>
          <a:p>
            <a:pPr indent="0" lvl="0" marL="0" rtl="0" algn="l">
              <a:lnSpc>
                <a:spcPct val="115000"/>
              </a:lnSpc>
              <a:spcBef>
                <a:spcPts val="1200"/>
              </a:spcBef>
              <a:spcAft>
                <a:spcPts val="0"/>
              </a:spcAft>
              <a:buNone/>
            </a:pPr>
            <a:r>
              <a:rPr lang="en" sz="1300"/>
              <a:t>To increase agricultural productivity while minimizing resource wastage.</a:t>
            </a:r>
            <a:endParaRPr sz="1300"/>
          </a:p>
          <a:p>
            <a:pPr indent="0" lvl="0" marL="0" rtl="0" algn="l">
              <a:lnSpc>
                <a:spcPct val="115000"/>
              </a:lnSpc>
              <a:spcBef>
                <a:spcPts val="1200"/>
              </a:spcBef>
              <a:spcAft>
                <a:spcPts val="0"/>
              </a:spcAft>
              <a:buNone/>
            </a:pPr>
            <a:r>
              <a:rPr lang="en" sz="1300"/>
              <a:t>To reduce manual labor dependency by introducing robotics and smart machinery.</a:t>
            </a:r>
            <a:endParaRPr sz="1300"/>
          </a:p>
          <a:p>
            <a:pPr indent="0" lvl="0" marL="0" rtl="0" algn="l">
              <a:lnSpc>
                <a:spcPct val="115000"/>
              </a:lnSpc>
              <a:spcBef>
                <a:spcPts val="1200"/>
              </a:spcBef>
              <a:spcAft>
                <a:spcPts val="0"/>
              </a:spcAft>
              <a:buNone/>
            </a:pPr>
            <a:r>
              <a:rPr lang="en" sz="1300"/>
              <a:t>To suggest the most suitable crops based on soil type, pH, moisture, and climate data.</a:t>
            </a:r>
            <a:endParaRPr sz="1300"/>
          </a:p>
          <a:p>
            <a:pPr indent="0" lvl="0" marL="0" rtl="0" algn="l">
              <a:lnSpc>
                <a:spcPct val="115000"/>
              </a:lnSpc>
              <a:spcBef>
                <a:spcPts val="1200"/>
              </a:spcBef>
              <a:spcAft>
                <a:spcPts val="0"/>
              </a:spcAft>
              <a:buClr>
                <a:schemeClr val="dk1"/>
              </a:buClr>
              <a:buSzPts val="1100"/>
              <a:buFont typeface="Arial"/>
              <a:buNone/>
            </a:pPr>
            <a:r>
              <a:rPr lang="en" sz="1300"/>
              <a:t>To improve crop yield by considering historical farming patterns and soil health.</a:t>
            </a:r>
            <a:endParaRPr sz="1300"/>
          </a:p>
          <a:p>
            <a:pPr indent="0" lvl="0" marL="0" rtl="0" algn="l">
              <a:lnSpc>
                <a:spcPct val="115000"/>
              </a:lnSpc>
              <a:spcBef>
                <a:spcPts val="1200"/>
              </a:spcBef>
              <a:spcAft>
                <a:spcPts val="0"/>
              </a:spcAft>
              <a:buNone/>
            </a:pPr>
            <a:r>
              <a:rPr lang="en" sz="1300"/>
              <a:t>To support farmers in selecting crops that align with market demand and profitability.</a:t>
            </a:r>
            <a:endParaRPr sz="1300"/>
          </a:p>
          <a:p>
            <a:pPr indent="0" lvl="0" marL="0" rtl="0" algn="l">
              <a:spcBef>
                <a:spcPts val="1200"/>
              </a:spcBef>
              <a:spcAft>
                <a:spcPts val="0"/>
              </a:spcAft>
              <a:buNone/>
            </a:pPr>
            <a:r>
              <a:t/>
            </a:r>
            <a:endParaRPr sz="1300"/>
          </a:p>
        </p:txBody>
      </p:sp>
      <p:sp>
        <p:nvSpPr>
          <p:cNvPr id="74" name="Google Shape;74;p16"/>
          <p:cNvSpPr/>
          <p:nvPr/>
        </p:nvSpPr>
        <p:spPr>
          <a:xfrm>
            <a:off x="410575" y="571175"/>
            <a:ext cx="2045400" cy="31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00FFFF"/>
                </a:highlight>
              </a:rPr>
              <a:t>OBJECTIVES:</a:t>
            </a:r>
            <a:endParaRPr sz="1800">
              <a:highlight>
                <a:srgbClr val="00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165450" y="337375"/>
            <a:ext cx="2235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9009"/>
              <a:buNone/>
            </a:pPr>
            <a:r>
              <a:rPr lang="en" sz="2020" u="sng">
                <a:highlight>
                  <a:srgbClr val="00FFFF"/>
                </a:highlight>
              </a:rPr>
              <a:t>METHODOLOGY:</a:t>
            </a:r>
            <a:endParaRPr sz="2020" u="sng">
              <a:highlight>
                <a:srgbClr val="00FFFF"/>
              </a:highlight>
            </a:endParaRPr>
          </a:p>
        </p:txBody>
      </p:sp>
      <p:sp>
        <p:nvSpPr>
          <p:cNvPr id="80" name="Google Shape;80;p17"/>
          <p:cNvSpPr txBox="1"/>
          <p:nvPr>
            <p:ph idx="1" type="body"/>
          </p:nvPr>
        </p:nvSpPr>
        <p:spPr>
          <a:xfrm>
            <a:off x="305550" y="910075"/>
            <a:ext cx="5464200" cy="40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50">
                <a:solidFill>
                  <a:schemeClr val="dk1"/>
                </a:solidFill>
                <a:highlight>
                  <a:srgbClr val="FFFF00"/>
                </a:highlight>
              </a:rPr>
              <a:t>1. Hardware Setup:</a:t>
            </a:r>
            <a:endParaRPr sz="1500">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ESP32 Microcontroller: Central controller for processing and communication</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Sensors:</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Temperature &amp; Humidity Sensor (DHT11/DHT22)</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Soil Moisture Sensor</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Water Pump + Relay Module: For automatic irrigation control</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Breadboard: Used for circuit connections during prototyping</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450">
                <a:solidFill>
                  <a:schemeClr val="dk1"/>
                </a:solidFill>
                <a:highlight>
                  <a:srgbClr val="FFFF00"/>
                </a:highlight>
              </a:rPr>
              <a:t>2. Sensor Data Collection:</a:t>
            </a:r>
            <a:endParaRPr sz="1400">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Real-time sensing of soil moisture, temperature, and humidity</a:t>
            </a:r>
            <a:endParaRPr sz="1200">
              <a:solidFill>
                <a:schemeClr val="dk1"/>
              </a:solidFill>
            </a:endParaRPr>
          </a:p>
          <a:p>
            <a:pPr indent="0" lvl="0" marL="0" rtl="0" algn="l">
              <a:spcBef>
                <a:spcPts val="1200"/>
              </a:spcBef>
              <a:spcAft>
                <a:spcPts val="1200"/>
              </a:spcAft>
              <a:buNone/>
            </a:pPr>
            <a:r>
              <a:rPr lang="en" sz="1250">
                <a:solidFill>
                  <a:schemeClr val="dk1"/>
                </a:solidFill>
                <a:highlight>
                  <a:srgbClr val="FFFFFF"/>
                </a:highlight>
              </a:rPr>
              <a:t>Data sent to ESP32 for processing and decision making</a:t>
            </a:r>
            <a:endParaRPr sz="1900"/>
          </a:p>
        </p:txBody>
      </p:sp>
      <p:pic>
        <p:nvPicPr>
          <p:cNvPr id="81" name="Google Shape;81;p17"/>
          <p:cNvPicPr preferRelativeResize="0"/>
          <p:nvPr/>
        </p:nvPicPr>
        <p:blipFill>
          <a:blip r:embed="rId3">
            <a:alphaModFix/>
          </a:blip>
          <a:stretch>
            <a:fillRect/>
          </a:stretch>
        </p:blipFill>
        <p:spPr>
          <a:xfrm>
            <a:off x="5714025" y="910075"/>
            <a:ext cx="3069450" cy="35535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340925"/>
            <a:ext cx="8520600" cy="4489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sz="1450">
                <a:solidFill>
                  <a:schemeClr val="dk1"/>
                </a:solidFill>
                <a:highlight>
                  <a:srgbClr val="FFFF00"/>
                </a:highlight>
              </a:rPr>
              <a:t>3. Smart Irrigation Logic:</a:t>
            </a:r>
            <a:endParaRPr sz="1400">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Threshold-based control:</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If soil moisture &lt; set value → Water pump is activated via relay</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Else → Pump remains off</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Helps in water conservation and maintaining ideal soil conditions</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450">
                <a:solidFill>
                  <a:schemeClr val="dk1"/>
                </a:solidFill>
                <a:highlight>
                  <a:srgbClr val="FFFF00"/>
                </a:highlight>
              </a:rPr>
              <a:t>4. Crop Recommendation Logic:</a:t>
            </a:r>
            <a:endParaRPr sz="1400">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Predefined crop database based on temperature, humidity, and soil moisture needs</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ESP32 compares real-time values with ideal crop conditions</a:t>
            </a:r>
            <a:endParaRPr sz="1200">
              <a:solidFill>
                <a:schemeClr val="dk1"/>
              </a:solidFill>
            </a:endParaRPr>
          </a:p>
          <a:p>
            <a:pPr indent="0" lvl="0" marL="0" rtl="0" algn="l">
              <a:spcBef>
                <a:spcPts val="1200"/>
              </a:spcBef>
              <a:spcAft>
                <a:spcPts val="0"/>
              </a:spcAft>
              <a:buNone/>
            </a:pPr>
            <a:r>
              <a:rPr lang="en" sz="1250">
                <a:solidFill>
                  <a:schemeClr val="dk1"/>
                </a:solidFill>
                <a:highlight>
                  <a:srgbClr val="FFFFFF"/>
                </a:highlight>
              </a:rPr>
              <a:t>Outputs suitable crops for current conditions (can be displayed on web interface or serial monitor)</a:t>
            </a:r>
            <a:endParaRPr sz="125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 sz="1450">
                <a:solidFill>
                  <a:schemeClr val="dk1"/>
                </a:solidFill>
                <a:highlight>
                  <a:srgbClr val="FFFF00"/>
                </a:highlight>
              </a:rPr>
              <a:t>5. System Integration and Testing:</a:t>
            </a:r>
            <a:endParaRPr sz="1400">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Hardware tested on breadboard setup</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highlight>
                  <a:srgbClr val="FFFFFF"/>
                </a:highlight>
              </a:rPr>
              <a:t>Continuous monitoring of sensor outputs</a:t>
            </a:r>
            <a:endParaRPr sz="1200">
              <a:solidFill>
                <a:schemeClr val="dk1"/>
              </a:solidFill>
            </a:endParaRPr>
          </a:p>
          <a:p>
            <a:pPr indent="0" lvl="0" marL="0" rtl="0" algn="l">
              <a:spcBef>
                <a:spcPts val="1200"/>
              </a:spcBef>
              <a:spcAft>
                <a:spcPts val="1200"/>
              </a:spcAft>
              <a:buNone/>
            </a:pPr>
            <a:r>
              <a:rPr lang="en" sz="1250">
                <a:solidFill>
                  <a:schemeClr val="dk1"/>
                </a:solidFill>
                <a:highlight>
                  <a:srgbClr val="FFFFFF"/>
                </a:highlight>
              </a:rPr>
              <a:t>Pump response and crop suggestions verified for accuracy</a:t>
            </a:r>
            <a:endParaRPr sz="1350">
              <a:solidFill>
                <a:schemeClr val="dk1"/>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pic>
        <p:nvPicPr>
          <p:cNvPr id="91" name="Google Shape;91;p19"/>
          <p:cNvPicPr preferRelativeResize="0"/>
          <p:nvPr/>
        </p:nvPicPr>
        <p:blipFill>
          <a:blip r:embed="rId3">
            <a:alphaModFix/>
          </a:blip>
          <a:stretch>
            <a:fillRect/>
          </a:stretch>
        </p:blipFill>
        <p:spPr>
          <a:xfrm>
            <a:off x="73125" y="53275"/>
            <a:ext cx="2029875" cy="2029875"/>
          </a:xfrm>
          <a:prstGeom prst="rect">
            <a:avLst/>
          </a:prstGeom>
          <a:noFill/>
          <a:ln>
            <a:noFill/>
          </a:ln>
        </p:spPr>
      </p:pic>
      <p:pic>
        <p:nvPicPr>
          <p:cNvPr id="92" name="Google Shape;92;p19"/>
          <p:cNvPicPr preferRelativeResize="0"/>
          <p:nvPr/>
        </p:nvPicPr>
        <p:blipFill>
          <a:blip r:embed="rId4">
            <a:alphaModFix/>
          </a:blip>
          <a:stretch>
            <a:fillRect/>
          </a:stretch>
        </p:blipFill>
        <p:spPr>
          <a:xfrm>
            <a:off x="2215750" y="320875"/>
            <a:ext cx="2463925" cy="1930750"/>
          </a:xfrm>
          <a:prstGeom prst="rect">
            <a:avLst/>
          </a:prstGeom>
          <a:noFill/>
          <a:ln>
            <a:noFill/>
          </a:ln>
        </p:spPr>
      </p:pic>
      <p:pic>
        <p:nvPicPr>
          <p:cNvPr id="93" name="Google Shape;93;p19"/>
          <p:cNvPicPr preferRelativeResize="0"/>
          <p:nvPr/>
        </p:nvPicPr>
        <p:blipFill>
          <a:blip r:embed="rId5">
            <a:alphaModFix/>
          </a:blip>
          <a:stretch>
            <a:fillRect/>
          </a:stretch>
        </p:blipFill>
        <p:spPr>
          <a:xfrm>
            <a:off x="4792425" y="53275"/>
            <a:ext cx="3593750" cy="1930750"/>
          </a:xfrm>
          <a:prstGeom prst="rect">
            <a:avLst/>
          </a:prstGeom>
          <a:noFill/>
          <a:ln>
            <a:noFill/>
          </a:ln>
        </p:spPr>
      </p:pic>
      <p:pic>
        <p:nvPicPr>
          <p:cNvPr id="94" name="Google Shape;94;p19"/>
          <p:cNvPicPr preferRelativeResize="0"/>
          <p:nvPr/>
        </p:nvPicPr>
        <p:blipFill>
          <a:blip r:embed="rId6">
            <a:alphaModFix/>
          </a:blip>
          <a:stretch>
            <a:fillRect/>
          </a:stretch>
        </p:blipFill>
        <p:spPr>
          <a:xfrm>
            <a:off x="5743825" y="2473375"/>
            <a:ext cx="2982950" cy="2138926"/>
          </a:xfrm>
          <a:prstGeom prst="rect">
            <a:avLst/>
          </a:prstGeom>
          <a:noFill/>
          <a:ln>
            <a:noFill/>
          </a:ln>
        </p:spPr>
      </p:pic>
      <p:pic>
        <p:nvPicPr>
          <p:cNvPr id="95" name="Google Shape;95;p19"/>
          <p:cNvPicPr preferRelativeResize="0"/>
          <p:nvPr/>
        </p:nvPicPr>
        <p:blipFill>
          <a:blip r:embed="rId7">
            <a:alphaModFix/>
          </a:blip>
          <a:stretch>
            <a:fillRect/>
          </a:stretch>
        </p:blipFill>
        <p:spPr>
          <a:xfrm>
            <a:off x="73125" y="2780625"/>
            <a:ext cx="2188426" cy="2029875"/>
          </a:xfrm>
          <a:prstGeom prst="rect">
            <a:avLst/>
          </a:prstGeom>
          <a:noFill/>
          <a:ln>
            <a:noFill/>
          </a:ln>
        </p:spPr>
      </p:pic>
      <p:pic>
        <p:nvPicPr>
          <p:cNvPr id="96" name="Google Shape;96;p19"/>
          <p:cNvPicPr preferRelativeResize="0"/>
          <p:nvPr/>
        </p:nvPicPr>
        <p:blipFill>
          <a:blip r:embed="rId8">
            <a:alphaModFix/>
          </a:blip>
          <a:stretch>
            <a:fillRect/>
          </a:stretch>
        </p:blipFill>
        <p:spPr>
          <a:xfrm>
            <a:off x="2582425" y="2571750"/>
            <a:ext cx="2587075" cy="2267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700"/>
                                        <p:tgtEl>
                                          <p:spTgt spid="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700"/>
                                        <p:tgtEl>
                                          <p:spTgt spid="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700"/>
                                        <p:tgtEl>
                                          <p:spTgt spid="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1000"/>
                                        <p:tgtEl>
                                          <p:spTgt spid="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1000"/>
                                        <p:tgtEl>
                                          <p:spTgt spid="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3168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highlight>
                  <a:srgbClr val="00FFFF"/>
                </a:highlight>
              </a:rPr>
              <a:t>IMPLEMENTATION:</a:t>
            </a:r>
            <a:endParaRPr u="sng">
              <a:highlight>
                <a:srgbClr val="00FFFF"/>
              </a:highlight>
            </a:endParaRPr>
          </a:p>
        </p:txBody>
      </p:sp>
      <p:sp>
        <p:nvSpPr>
          <p:cNvPr id="102" name="Google Shape;102;p20"/>
          <p:cNvSpPr txBox="1"/>
          <p:nvPr>
            <p:ph idx="1" type="body"/>
          </p:nvPr>
        </p:nvSpPr>
        <p:spPr>
          <a:xfrm>
            <a:off x="311700" y="1084200"/>
            <a:ext cx="3525600" cy="348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50">
                <a:solidFill>
                  <a:schemeClr val="dk1"/>
                </a:solidFill>
                <a:highlight>
                  <a:srgbClr val="FFFFFF"/>
                </a:highlight>
              </a:rPr>
              <a:t> </a:t>
            </a:r>
            <a:r>
              <a:rPr lang="en" sz="1400"/>
              <a:t>Smart farming using ESP32 and sensors involves integrating IoT technology to optimize agricultural processes. The ESP32 microcontroller collects real-time data from sensors like soil moisture, temperature, and humidity to monitor crop conditions. This data is processed and sent to a cloud platform for analysis, enabling farmers to make informed decisions and automate irrigation and climate control systems.</a:t>
            </a:r>
            <a:endParaRPr sz="1400"/>
          </a:p>
        </p:txBody>
      </p:sp>
      <p:pic>
        <p:nvPicPr>
          <p:cNvPr id="103" name="Google Shape;103;p20"/>
          <p:cNvPicPr preferRelativeResize="0"/>
          <p:nvPr/>
        </p:nvPicPr>
        <p:blipFill>
          <a:blip r:embed="rId3">
            <a:alphaModFix/>
          </a:blip>
          <a:stretch>
            <a:fillRect/>
          </a:stretch>
        </p:blipFill>
        <p:spPr>
          <a:xfrm>
            <a:off x="3837300" y="1018350"/>
            <a:ext cx="5240275" cy="3106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344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highlight>
                  <a:srgbClr val="00FFFF"/>
                </a:highlight>
              </a:rPr>
              <a:t>CIRCUIT DIAGRAM:</a:t>
            </a:r>
            <a:endParaRPr u="sng">
              <a:highlight>
                <a:srgbClr val="00FFFF"/>
              </a:highlight>
            </a:endParaRPr>
          </a:p>
        </p:txBody>
      </p:sp>
      <p:pic>
        <p:nvPicPr>
          <p:cNvPr id="109" name="Google Shape;109;p21"/>
          <p:cNvPicPr preferRelativeResize="0"/>
          <p:nvPr/>
        </p:nvPicPr>
        <p:blipFill>
          <a:blip r:embed="rId3">
            <a:alphaModFix/>
          </a:blip>
          <a:stretch>
            <a:fillRect/>
          </a:stretch>
        </p:blipFill>
        <p:spPr>
          <a:xfrm>
            <a:off x="1084000" y="1100750"/>
            <a:ext cx="6807972"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1999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highlight>
                  <a:srgbClr val="00FFFF"/>
                </a:highlight>
              </a:rPr>
              <a:t>RESULTS:</a:t>
            </a:r>
            <a:endParaRPr u="sng">
              <a:highlight>
                <a:srgbClr val="00FFFF"/>
              </a:highlight>
            </a:endParaRPr>
          </a:p>
        </p:txBody>
      </p:sp>
      <p:pic>
        <p:nvPicPr>
          <p:cNvPr id="115" name="Google Shape;115;p22" title="Screenshot 2025-04-30 114809.png"/>
          <p:cNvPicPr preferRelativeResize="0"/>
          <p:nvPr/>
        </p:nvPicPr>
        <p:blipFill>
          <a:blip r:embed="rId3">
            <a:alphaModFix/>
          </a:blip>
          <a:stretch>
            <a:fillRect/>
          </a:stretch>
        </p:blipFill>
        <p:spPr>
          <a:xfrm>
            <a:off x="956025" y="977375"/>
            <a:ext cx="7867712" cy="38209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1632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highlight>
                  <a:srgbClr val="00FFFF"/>
                </a:highlight>
              </a:rPr>
              <a:t>GRAPH:</a:t>
            </a:r>
            <a:endParaRPr u="sng">
              <a:highlight>
                <a:srgbClr val="00FFFF"/>
              </a:highlight>
            </a:endParaRPr>
          </a:p>
        </p:txBody>
      </p:sp>
      <p:pic>
        <p:nvPicPr>
          <p:cNvPr id="121" name="Google Shape;121;p23" title="Screenshot 2025-04-30 114857.png"/>
          <p:cNvPicPr preferRelativeResize="0"/>
          <p:nvPr/>
        </p:nvPicPr>
        <p:blipFill>
          <a:blip r:embed="rId3">
            <a:alphaModFix/>
          </a:blip>
          <a:stretch>
            <a:fillRect/>
          </a:stretch>
        </p:blipFill>
        <p:spPr>
          <a:xfrm>
            <a:off x="761475" y="1017725"/>
            <a:ext cx="4259224" cy="2203626"/>
          </a:xfrm>
          <a:prstGeom prst="rect">
            <a:avLst/>
          </a:prstGeom>
          <a:noFill/>
          <a:ln>
            <a:noFill/>
          </a:ln>
        </p:spPr>
      </p:pic>
      <p:pic>
        <p:nvPicPr>
          <p:cNvPr id="122" name="Google Shape;122;p23" title="Screenshot 2025-04-30 114831.png"/>
          <p:cNvPicPr preferRelativeResize="0"/>
          <p:nvPr/>
        </p:nvPicPr>
        <p:blipFill>
          <a:blip r:embed="rId4">
            <a:alphaModFix/>
          </a:blip>
          <a:stretch>
            <a:fillRect/>
          </a:stretch>
        </p:blipFill>
        <p:spPr>
          <a:xfrm>
            <a:off x="5020699" y="3028200"/>
            <a:ext cx="3818503" cy="1936587"/>
          </a:xfrm>
          <a:prstGeom prst="rect">
            <a:avLst/>
          </a:prstGeom>
          <a:noFill/>
          <a:ln>
            <a:noFill/>
          </a:ln>
        </p:spPr>
      </p:pic>
      <p:sp>
        <p:nvSpPr>
          <p:cNvPr id="123" name="Google Shape;123;p23"/>
          <p:cNvSpPr txBox="1"/>
          <p:nvPr/>
        </p:nvSpPr>
        <p:spPr>
          <a:xfrm>
            <a:off x="5421625" y="1159575"/>
            <a:ext cx="3145800" cy="13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Temperature</a:t>
            </a:r>
            <a:r>
              <a:rPr lang="en" sz="1800">
                <a:solidFill>
                  <a:schemeClr val="dk2"/>
                </a:solidFill>
              </a:rPr>
              <a:t> Graph</a:t>
            </a:r>
            <a:endParaRPr sz="1800">
              <a:solidFill>
                <a:schemeClr val="dk2"/>
              </a:solidFill>
            </a:endParaRPr>
          </a:p>
        </p:txBody>
      </p:sp>
      <p:sp>
        <p:nvSpPr>
          <p:cNvPr id="124" name="Google Shape;124;p23"/>
          <p:cNvSpPr txBox="1"/>
          <p:nvPr/>
        </p:nvSpPr>
        <p:spPr>
          <a:xfrm>
            <a:off x="1979925" y="3680725"/>
            <a:ext cx="3261300" cy="8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Moisture Graph</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250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highlight>
                  <a:srgbClr val="00FFFF"/>
                </a:highlight>
              </a:rPr>
              <a:t>CONCLUSION:</a:t>
            </a:r>
            <a:endParaRPr u="sng">
              <a:highlight>
                <a:srgbClr val="00FFFF"/>
              </a:highlight>
            </a:endParaRPr>
          </a:p>
        </p:txBody>
      </p:sp>
      <p:sp>
        <p:nvSpPr>
          <p:cNvPr id="130" name="Google Shape;130;p24"/>
          <p:cNvSpPr txBox="1"/>
          <p:nvPr>
            <p:ph idx="1" type="body"/>
          </p:nvPr>
        </p:nvSpPr>
        <p:spPr>
          <a:xfrm>
            <a:off x="311700" y="1152475"/>
            <a:ext cx="43581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50567"/>
              <a:buFont typeface="Arial"/>
              <a:buNone/>
            </a:pPr>
            <a:r>
              <a:rPr lang="en" sz="2175"/>
              <a:t>This smart farming and crop recommendation system provides an efficient, affordable, and automated solution for modern agriculture. By using the ESP32 microcontroller along with temperature, humidity, and soil moisture sensors, the system enables real-time monitoring and automatic irrigation. AI-powered systems will enable automated decision-making based on real-time sensor and drone data.Integration with satellite data can further improve forecasting and large-scale farm management.Future farms will require robust wireless networks, such as LoRaWAN or 5G, for seamless data transmission.Renewable energy sources like solar panels will power remote sensors and devices sustainably.</a:t>
            </a:r>
            <a:endParaRPr sz="2175"/>
          </a:p>
          <a:p>
            <a:pPr indent="0" lvl="0" marL="0" rtl="0" algn="l">
              <a:spcBef>
                <a:spcPts val="1200"/>
              </a:spcBef>
              <a:spcAft>
                <a:spcPts val="1200"/>
              </a:spcAft>
              <a:buNone/>
            </a:pPr>
            <a:r>
              <a:t/>
            </a:r>
            <a:endParaRPr sz="1400"/>
          </a:p>
        </p:txBody>
      </p:sp>
      <p:pic>
        <p:nvPicPr>
          <p:cNvPr id="131" name="Google Shape;131;p24" title="can u give me a best conclusion image for smart farming and crop recommendation.jpg"/>
          <p:cNvPicPr preferRelativeResize="0"/>
          <p:nvPr/>
        </p:nvPicPr>
        <p:blipFill>
          <a:blip r:embed="rId3">
            <a:alphaModFix/>
          </a:blip>
          <a:stretch>
            <a:fillRect/>
          </a:stretch>
        </p:blipFill>
        <p:spPr>
          <a:xfrm>
            <a:off x="4792450" y="1242525"/>
            <a:ext cx="4169400" cy="23566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1000"/>
                                        <p:tgtEl>
                                          <p:spTgt spid="1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